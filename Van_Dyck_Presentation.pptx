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jpg"/><Relationship Id="rId4" Type="http://schemas.openxmlformats.org/officeDocument/2006/relationships/image" Target="../media/image7.jpg"/><Relationship Id="rId5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80512"/>
            </a:gs>
            <a:gs pos="100000">
              <a:srgbClr val="22153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371600"/>
            <a:ext cx="3200400" cy="3200400"/>
          </a:xfrm>
          <a:prstGeom prst="ellipse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486400"/>
            <a:ext cx="1828800" cy="1828800"/>
          </a:xfrm>
          <a:prstGeom prst="ellipse">
            <a:avLst/>
          </a:prstGeom>
          <a:solidFill>
            <a:srgbClr val="E8C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lf_portra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03641"/>
            <a:ext cx="2560320" cy="38164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57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A7A6A"/>
                </a:solidFill>
                <a:latin typeface="Calibri"/>
              </a:defRPr>
            </a:pPr>
            <a:r>
              <a:t>Тверской филиал РГУ им. А.Н. Косыгина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E8C56D"/>
                </a:solidFill>
                <a:latin typeface="Calibri"/>
              </a:defRPr>
            </a:pPr>
            <a:r>
              <a:t>ИСТОРИЯ ИСКУССТВ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2743200" cy="508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Georgia"/>
              </a:defRPr>
            </a:pPr>
            <a:r>
              <a:t>АНТОНИС</a:t>
            </a:r>
            <a:br/>
            <a:r>
              <a:t>ВАН ДЕЙК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8E0D0"/>
                </a:solidFill>
                <a:latin typeface="Calibri"/>
              </a:defRPr>
            </a:pPr>
            <a:r>
              <a:t>Избранные произведения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8C56D"/>
                </a:solidFill>
                <a:latin typeface="Calibri"/>
              </a:defRPr>
            </a:pPr>
            <a:r>
              <a:t>1599 – 1641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A7A6A"/>
                </a:solidFill>
                <a:latin typeface="Calibri"/>
              </a:defRPr>
            </a:pPr>
            <a:r>
              <a:t>Студент 1 курса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40080"/>
            <a:ext cx="2743200" cy="5852160"/>
          </a:xfrm>
          <a:prstGeom prst="rect">
            <a:avLst/>
          </a:prstGeom>
          <a:solidFill>
            <a:srgbClr val="1E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lf_portra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57921"/>
            <a:ext cx="2560320" cy="38164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9184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Georgia"/>
              </a:defRPr>
            </a:pPr>
            <a:r>
              <a:t>Антонис Ван Дейк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E8C56D"/>
                </a:solidFill>
                <a:latin typeface="Calibri"/>
              </a:defRPr>
            </a:pPr>
            <a:r>
              <a:t>22 марта 1599, Антверпен — 9 декабря 1641, Лондон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463040"/>
            <a:ext cx="1371600" cy="254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64592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1300">
                <a:solidFill>
                  <a:srgbClr val="E8E0D0"/>
                </a:solidFill>
                <a:latin typeface="Calibri"/>
              </a:defRPr>
            </a:pPr>
            <a:r>
              <a:t>Фламандский живописец, один из величайших</a:t>
            </a:r>
          </a:p>
          <a:p>
            <a:pPr>
              <a:spcBef>
                <a:spcPts val="900"/>
              </a:spcBef>
              <a:defRPr sz="1300">
                <a:solidFill>
                  <a:srgbClr val="E8E0D0"/>
                </a:solidFill>
                <a:latin typeface="Calibri"/>
              </a:defRPr>
            </a:pPr>
            <a:r>
              <a:t>портретистов эпохи барокко</a:t>
            </a:r>
          </a:p>
          <a:p>
            <a:pPr>
              <a:spcBef>
                <a:spcPts val="900"/>
              </a:spcBef>
              <a:defRPr sz="13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900"/>
              </a:spcBef>
              <a:defRPr sz="1300">
                <a:solidFill>
                  <a:srgbClr val="E8E0D0"/>
                </a:solidFill>
                <a:latin typeface="Calibri"/>
              </a:defRPr>
            </a:pPr>
            <a:r>
              <a:t>• Ученик и помощник Питера Пауля Рубенса</a:t>
            </a:r>
          </a:p>
          <a:p>
            <a:pPr>
              <a:spcBef>
                <a:spcPts val="900"/>
              </a:spcBef>
              <a:defRPr sz="1300">
                <a:solidFill>
                  <a:srgbClr val="E8E0D0"/>
                </a:solidFill>
                <a:latin typeface="Calibri"/>
              </a:defRPr>
            </a:pPr>
            <a:r>
              <a:t>• Итальянский период (1621–1627): Генуя, Рим</a:t>
            </a:r>
          </a:p>
          <a:p>
            <a:pPr>
              <a:spcBef>
                <a:spcPts val="900"/>
              </a:spcBef>
              <a:defRPr sz="1300">
                <a:solidFill>
                  <a:srgbClr val="E8E0D0"/>
                </a:solidFill>
                <a:latin typeface="Calibri"/>
              </a:defRPr>
            </a:pPr>
            <a:r>
              <a:t>• Придворный художник Карла I с 1632 года</a:t>
            </a:r>
          </a:p>
          <a:p>
            <a:pPr>
              <a:spcBef>
                <a:spcPts val="900"/>
              </a:spcBef>
              <a:defRPr sz="1300">
                <a:solidFill>
                  <a:srgbClr val="E8E0D0"/>
                </a:solidFill>
                <a:latin typeface="Calibri"/>
              </a:defRPr>
            </a:pPr>
            <a:r>
              <a:t>• Создал более 900 картин за 42 года жизни</a:t>
            </a:r>
          </a:p>
          <a:p>
            <a:pPr>
              <a:spcBef>
                <a:spcPts val="900"/>
              </a:spcBef>
              <a:defRPr sz="1300">
                <a:solidFill>
                  <a:srgbClr val="E8E0D0"/>
                </a:solidFill>
                <a:latin typeface="Calibri"/>
              </a:defRPr>
            </a:pPr>
            <a:r>
              <a:t>• Революционизировал жанр парадного портрета</a:t>
            </a:r>
          </a:p>
          <a:p>
            <a:pPr>
              <a:spcBef>
                <a:spcPts val="900"/>
              </a:spcBef>
              <a:defRPr sz="1300">
                <a:solidFill>
                  <a:srgbClr val="E8E0D0"/>
                </a:solidFill>
                <a:latin typeface="Calibri"/>
              </a:defRPr>
            </a:pPr>
            <a:r>
              <a:t>• Определил развитие английской портретной</a:t>
            </a:r>
          </a:p>
          <a:p>
            <a:pPr>
              <a:spcBef>
                <a:spcPts val="900"/>
              </a:spcBef>
              <a:defRPr sz="1300">
                <a:solidFill>
                  <a:srgbClr val="E8E0D0"/>
                </a:solidFill>
                <a:latin typeface="Calibri"/>
              </a:defRPr>
            </a:pPr>
            <a:r>
              <a:t>  живописи на 150 лет вперёд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A7A6A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457200"/>
            <a:ext cx="3657600" cy="6035040"/>
          </a:xfrm>
          <a:prstGeom prst="rect">
            <a:avLst/>
          </a:prstGeom>
          <a:solidFill>
            <a:srgbClr val="1E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mily_portra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8320"/>
            <a:ext cx="3383280" cy="41127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5486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Семейный портрет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E8C56D"/>
                </a:solidFill>
                <a:latin typeface="Calibri"/>
              </a:defRPr>
            </a:pPr>
            <a:r>
              <a:t>Ок. 1620–1621 • Холст, масло • 113,5 × 93,5 см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645920"/>
            <a:ext cx="1371600" cy="254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8288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Государственный Эрмитаж, Санкт-Петербург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Одна из самых проникновенных работ раннего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периода. Изображена супружеская пара с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дочерью на коленях у матери.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Компактная композиция создаёт атмосферу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доверительной близости и семейного согласия.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Ван Дейку было всего 21 год — но уже видно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влияние Рубенса в колористике и свободной,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уверенной манере письма.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A7A6A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457200"/>
            <a:ext cx="3657600" cy="6035040"/>
          </a:xfrm>
          <a:prstGeom prst="rect">
            <a:avLst/>
          </a:prstGeom>
          <a:solidFill>
            <a:srgbClr val="1E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_mart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44311"/>
            <a:ext cx="3383280" cy="42608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5486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Святой Мартин и нищий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E8C56D"/>
                </a:solidFill>
                <a:latin typeface="Calibri"/>
              </a:defRPr>
            </a:pPr>
            <a:r>
              <a:t>Ок. 1618 • Дерево, масло • 172 × 158 см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645920"/>
            <a:ext cx="1371600" cy="254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8288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Церковь Св. Мартина, Завентем (Бельгия)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Алтарный образ, написанный 19-летним Ван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Дейком. Сюжет: римский воин Мартин Турский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разрезает свой плащ, чтобы поделиться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с замерзающим нищим.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Заказ предназначался Рубенсу, но был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передан талантливому ученику.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Мощная барочная диагональ и драматизм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свидетельствуют о раннем мастерстве.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A7A6A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457200"/>
            <a:ext cx="3657600" cy="6035040"/>
          </a:xfrm>
          <a:prstGeom prst="rect">
            <a:avLst/>
          </a:prstGeom>
          <a:solidFill>
            <a:srgbClr val="1E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entivogl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5105"/>
            <a:ext cx="3383280" cy="37392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5486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Портрет кардинала Бентивольо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E8C56D"/>
                </a:solidFill>
                <a:latin typeface="Calibri"/>
              </a:defRPr>
            </a:pPr>
            <a:r>
              <a:t>Ок. 1623 • Холст, масло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645920"/>
            <a:ext cx="1371600" cy="254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8288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Галерея Палатина, Палаццо Питти, Флоренция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Написан в итальянский период. Кардинал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Гвидо Бентивольо — дипломат, связанный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с Фландрией.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«Весь Рим устремился смотреть это чудо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искусства, и каждый хотел быть написанным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рукой нашего художника»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Работа, вдохновлённая Тицианом, утвердила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Ван Дейка как ведущего портретиста эпохи.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A7A6A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457200"/>
            <a:ext cx="3657600" cy="6035040"/>
          </a:xfrm>
          <a:prstGeom prst="rect">
            <a:avLst/>
          </a:prstGeom>
          <a:solidFill>
            <a:srgbClr val="1E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lf_portra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53119"/>
            <a:ext cx="3383280" cy="50432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5486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Автопортрет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E8C56D"/>
                </a:solidFill>
                <a:latin typeface="Calibri"/>
              </a:defRPr>
            </a:pPr>
            <a:r>
              <a:t>Ок. 1620–1621 • Холст, масло • 119,7 × 87,9 см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645920"/>
            <a:ext cx="1371600" cy="254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8288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Метрополитен-музей, Нью-Йорк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Написан зимой 1620–1621 в Лондоне.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Ван Дейк изображает себя как светского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джентльмена — без палитры и кистей.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Небрежная поза руки у подбородка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подчёркивает аристократизм.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Виртуозная кисть передаёт блеск шёлка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и сияние молодой кожи 21-летнего мастера.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A7A6A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457200"/>
            <a:ext cx="3657600" cy="6035040"/>
          </a:xfrm>
          <a:prstGeom prst="rect">
            <a:avLst/>
          </a:prstGeom>
          <a:solidFill>
            <a:srgbClr val="1E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ia_de_tass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5851"/>
            <a:ext cx="3383280" cy="47577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5486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Портрет Марии Луизы де Тассис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E8C56D"/>
                </a:solidFill>
                <a:latin typeface="Calibri"/>
              </a:defRPr>
            </a:pPr>
            <a:r>
              <a:t>Ок. 1629–1630 • Холст, масло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645920"/>
            <a:ext cx="1371600" cy="254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8288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Коллекция князей Лихтенштейн, Вадуц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Мария Луиза (1611–1638) — дочь Антонио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де Тассис из Антверпена. Семья создала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первую почтовую систему Европы.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Изображена в возрасте около 19 лет.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Роскошное платье, кружева, жемчуг —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утончённая красота аристократки.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Эталон мастерства Ван Дейка в передаче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тканей, украшений и женственности.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A7A6A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457200"/>
            <a:ext cx="3657600" cy="6035040"/>
          </a:xfrm>
          <a:prstGeom prst="rect">
            <a:avLst/>
          </a:prstGeom>
          <a:solidFill>
            <a:srgbClr val="1E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lo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91447"/>
            <a:ext cx="3383280" cy="4366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5486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Портрет сэра Томаса Чалонера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E8C56D"/>
                </a:solidFill>
                <a:latin typeface="Calibri"/>
              </a:defRPr>
            </a:pPr>
            <a:r>
              <a:t>Конец 1630-х • Холст, масло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645920"/>
            <a:ext cx="1371600" cy="254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8288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Государственный Эрмитаж, Санкт-Петербург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Одна из последних работ мастера.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Сэр Томас Чалонер — придворный Карла I.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Художник честно передаёт стареющее лицо: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дряблая кожа, румянец — без лести,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глубокий психологизм.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Считается одним из лучших полотен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позднего периода. Свободная, уверенная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манера письма зрелого мастера.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A7A6A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457200"/>
            <a:ext cx="3657600" cy="6035040"/>
          </a:xfrm>
          <a:prstGeom prst="rect">
            <a:avLst/>
          </a:prstGeom>
          <a:solidFill>
            <a:srgbClr val="1E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les_hu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03782"/>
            <a:ext cx="3383280" cy="4341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5486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Портрет Карла I на охоте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E8C56D"/>
                </a:solidFill>
                <a:latin typeface="Calibri"/>
              </a:defRPr>
            </a:pPr>
            <a:r>
              <a:t>Ок. 1635 • Холст, масло • 266 × 207 см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645920"/>
            <a:ext cx="1371600" cy="254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8288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Музей Лувр, Париж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Шедевр и жемчужина Лувра с 1793 года.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Карл I в гражданской одежде у лошади.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«Тонкий компромисс между джентльменской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небрежностью и королевской уверенностью»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Король был невысок (163 см), но Ван Дейк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с помощью композиции создаёт впечатление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величественной фигуры.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A7A6A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457200"/>
            <a:ext cx="3657600" cy="6035040"/>
          </a:xfrm>
          <a:prstGeom prst="rect">
            <a:avLst/>
          </a:prstGeom>
          <a:solidFill>
            <a:srgbClr val="1E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gby_russe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86582"/>
            <a:ext cx="3383280" cy="3376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5486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Портрет Дигби и Рассела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E8C56D"/>
                </a:solidFill>
                <a:latin typeface="Calibri"/>
              </a:defRPr>
            </a:pPr>
            <a:r>
              <a:t>Ок. 1637 • Холст, масло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645920"/>
            <a:ext cx="1371600" cy="254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8288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Коллекция Спенсеров, Олторп, Англия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Двойной парадный портрет молодых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английских аристократов: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• Джордж Дигби (1612–1677) — 2-й граф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  Бристоль, политик, поэт, драматург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• Уильям Рассел (1616–1700) — будущий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  1-й герцог Бедфорд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Элегантная непринуждённость поз —</a:t>
            </a:r>
          </a:p>
          <a:p>
            <a:pPr>
              <a:spcBef>
                <a:spcPts val="800"/>
              </a:spcBef>
              <a:defRPr sz="1200">
                <a:solidFill>
                  <a:srgbClr val="E8E0D0"/>
                </a:solidFill>
                <a:latin typeface="Calibri"/>
              </a:defRPr>
            </a:pPr>
            <a:r>
              <a:t>типичный «friendship portrait».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8A7A6A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80512"/>
            </a:gs>
            <a:gs pos="100000">
              <a:srgbClr val="22153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4114800"/>
            <a:ext cx="3200400" cy="3200400"/>
          </a:xfrm>
          <a:prstGeom prst="ellipse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1371600" cy="1371600"/>
          </a:xfrm>
          <a:prstGeom prst="ellipse">
            <a:avLst/>
          </a:prstGeom>
          <a:solidFill>
            <a:srgbClr val="E8C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СПАСИБО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60320"/>
            <a:ext cx="2286000" cy="381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E8C56D"/>
                </a:solidFill>
                <a:latin typeface="Calibri"/>
              </a:defRPr>
            </a:pPr>
            <a:r>
              <a:t>Готов ответить на вопросы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A7A6A"/>
                </a:solidFill>
                <a:latin typeface="Calibri"/>
              </a:defRPr>
            </a:pPr>
            <a:r>
              <a:t>Тверской филиал РГУ им. А.Н. Косыгина  •  История искусств</a:t>
            </a:r>
          </a:p>
        </p:txBody>
      </p:sp>
      <p:pic>
        <p:nvPicPr>
          <p:cNvPr id="8" name="Picture 7" descr="family_portra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206240"/>
            <a:ext cx="1880514" cy="2286000"/>
          </a:xfrm>
          <a:prstGeom prst="rect">
            <a:avLst/>
          </a:prstGeom>
        </p:spPr>
      </p:pic>
      <p:pic>
        <p:nvPicPr>
          <p:cNvPr id="9" name="Picture 8" descr="bentivogli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874" y="4206240"/>
            <a:ext cx="2068388" cy="2286000"/>
          </a:xfrm>
          <a:prstGeom prst="rect">
            <a:avLst/>
          </a:prstGeom>
        </p:spPr>
      </p:pic>
      <p:pic>
        <p:nvPicPr>
          <p:cNvPr id="10" name="Picture 9" descr="charles_hu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422" y="4206240"/>
            <a:ext cx="1781299" cy="2286000"/>
          </a:xfrm>
          <a:prstGeom prst="rect">
            <a:avLst/>
          </a:prstGeom>
        </p:spPr>
      </p:pic>
      <p:pic>
        <p:nvPicPr>
          <p:cNvPr id="11" name="Picture 10" descr="maria_de_tassi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880" y="4206240"/>
            <a:ext cx="16256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