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512"/>
            </a:gs>
            <a:gs pos="100000">
              <a:srgbClr val="22153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32320" y="-1371600"/>
            <a:ext cx="3657600" cy="3657600"/>
          </a:xfrm>
          <a:prstGeom prst="ellipse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2286000" cy="2286000"/>
          </a:xfrm>
          <a:prstGeom prst="ellipse">
            <a:avLst/>
          </a:prstGeom>
          <a:solidFill>
            <a:srgbClr val="E8C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lf_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3373887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0" y="1371600"/>
            <a:ext cx="3200400" cy="5029200"/>
          </a:xfrm>
          <a:prstGeom prst="rect">
            <a:avLst/>
          </a:prstGeom>
          <a:solidFill>
            <a:srgbClr val="2215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8A7A6A"/>
                </a:solidFill>
                <a:latin typeface="Calibri"/>
              </a:defRPr>
            </a:pPr>
            <a:r>
              <a:t>Тверской филиал РГУ им. А.Н. Косыгина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E8C56D"/>
                </a:solidFill>
                <a:latin typeface="Calibri"/>
              </a:defRPr>
            </a:pPr>
            <a:r>
              <a:t>ИСТОРИЯ ИСКУССТВ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3200400" cy="508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FFFFFF"/>
                </a:solidFill>
                <a:latin typeface="Georgia"/>
              </a:defRPr>
            </a:pPr>
            <a:r>
              <a:t>АНТОНИС</a:t>
            </a:r>
            <a:br/>
            <a:r>
              <a:t>ВАН ДЕЙК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0D0"/>
                </a:solidFill>
                <a:latin typeface="Calibri"/>
              </a:defRPr>
            </a:pPr>
            <a:r>
              <a:t>Избранные произведения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8C56D"/>
                </a:solidFill>
                <a:latin typeface="Calibri"/>
              </a:defRPr>
            </a:pPr>
            <a:r>
              <a:t>1599 – 1641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8A7A6A"/>
                </a:solidFill>
                <a:latin typeface="Calibri"/>
              </a:defRPr>
            </a:pPr>
            <a:r>
              <a:t>Студент 1 курса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731520"/>
            <a:ext cx="2926080" cy="566928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lf_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361926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0" y="4572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FFFFF"/>
                </a:solidFill>
                <a:latin typeface="Georgia"/>
              </a:defRPr>
            </a:pPr>
            <a:r>
              <a:t>Антонис Ван Дейк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E8C56D"/>
                </a:solidFill>
                <a:latin typeface="Calibri"/>
              </a:defRPr>
            </a:pPr>
            <a:r>
              <a:t>22 марта 1599, Антверпен — 9 декабря 1641, Лондон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5544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7373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Фламандский живописец, один из величайших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портретистов эпохи барокко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• Ученик и помощник Питера Пауля Рубенса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• Итальянский период (1621–1627): Генуя, Рим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• Придворный художник Карла I с 1632 года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• Создал более 900 картин за 42 года жизни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• Революционизировал жанр парадного портрета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• Определил развитие английской портретной</a:t>
            </a:r>
          </a:p>
          <a:p>
            <a:pPr>
              <a:spcBef>
                <a:spcPts val="800"/>
              </a:spcBef>
              <a:defRPr sz="1300">
                <a:solidFill>
                  <a:srgbClr val="E8E0D0"/>
                </a:solidFill>
                <a:latin typeface="Calibri"/>
              </a:defRPr>
            </a:pPr>
            <a:r>
              <a:t>  живописи на 150 лет вперёд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mily_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4588454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Семейный портрет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1620–1621 • Холст, масло • 113,5 × 93,5 см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Государственный Эрмитаж, Санкт-Петербург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Одна из самых проникновенных работ раннего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периода. Изображена супружеская пара с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дочерью на коленях у матери.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Компактная композиция создаёт атмосферу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доверительной близости и семейного согласия.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Ван Дейку было всего 21 год — но уже видно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влияние Рубенса в колористике и свободной,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уверенной манере письма.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_mart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4429054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Святой Мартин и нищий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1618 • Дерево, масло • 172 × 158 см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Церковь Св. Мартина, Завентем (Бельгия)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Алтарный образ, написанный 19-летним Ван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Дейком. Сюжет: римский воин Мартин Турский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разрезает свой плащ, чтобы поделиться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с замерзающим нищим.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Заказ предназначался Рубенсу, но был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передан талантливому ученику.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Мощная барочная диагональ и драматизм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свидетельствуют о раннем мастерстве.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ntivog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046867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Портрет кардинала Бентивольо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1623 • Холст, масло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Галерея Палатина, Палаццо Питти, Флоренция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Написан в итальянский период. Кардинал Гвидо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Бентивольо — дипломат, связанный с Фландрией.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«Весь Рим устремился смотреть это чудо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искусства, и каждый хотел быть написанным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рукой нашего художника»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Работа, вдохновлённая Тицианом, утвердила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Ван Дейка как ведущего портретиста эпохи.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Передаёт ум и чувственность натуры.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lf_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3741947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Автопортрет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1620–1621 • Холст, масло • 119,7 × 87,9 см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Метрополитен-музей, Нью-Йорк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Написан зимой 1620–1621 в Лондоне.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Ван Дейк изображает себя как светского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джентльмена в изысканной одежде — без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палитры и кистей.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Небрежная поза руки у подбородка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подчёркивает аристократизм. Отец был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богатым торговцем тканями.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Виртуозная кисть передаёт блеск шёлка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и сияние молодой кожи 21-летнего мастера.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ia_de_tas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3966464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Портрет Марии Луизы де Тассис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1629–1630 • Холст, масло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Коллекция князей Лихтенштейн, Вадуц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Мария Луиза (1611–1638) — дочь Антонио де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Тассис из Антверпена. Семья де Тассис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создала первую почтовую систему Европы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(ныне Thurn und Taxis).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Изображена в возрасте около 19 лет.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Роскошное платье, кружева, жемчуг —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утончённая красота молодой аристократки.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Эталон мастерства в передаче тканей,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украшений и женственности.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lo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4321813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Портрет сэра Томаса Чалонера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Конец 1630-х • Холст, масло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Государственный Эрмитаж, Санкт-Петербург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Одна из последних работ мастера. Сэр Томас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Чалонер — английский придворный при Карле I.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Художник с поразительной честностью передаёт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стареющее лицо: дряблая кожа, румянец —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без лести, глубокий психологизм.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Считается одним из лучших полотен позднего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периода. Свободная, уверенная манера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письма зрелого мастера.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les_hu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4346369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Портрет Карла I на охоте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1635 • Холст, масло • 266 × 207 см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Музей Лувр, Париж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Шедевр и жемчужина Лувра с 1793 года.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Карл I в гражданской одежде, стоящий у лошади.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«Тонкий компромисс между джентльменской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небрежностью и королевской уверенностью»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— описание Лувра.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Король был невысок (163 см), но Ван Дейк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с помощью композиции создаёт впечатление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величественной фигуры. Лошадь словно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кланяется, подчёркивая статус монарха.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B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3840480" cy="5943600"/>
          </a:xfrm>
          <a:prstGeom prst="rect">
            <a:avLst/>
          </a:prstGeom>
          <a:solidFill>
            <a:srgbClr val="1E1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gby_russ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5589412" cy="5577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89120" y="640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Georgia"/>
              </a:defRPr>
            </a:pPr>
            <a:r>
              <a:t>Портрет Дигби и Рассела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E8C56D"/>
                </a:solidFill>
                <a:latin typeface="Calibri"/>
              </a:defRPr>
            </a:pPr>
            <a:r>
              <a:t>Ок. 1637 • Холст, масло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783080"/>
            <a:ext cx="1371600" cy="254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Коллекция Спенсеров, Олторп, Англия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Двойной парадный портрет молодых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английских аристократов: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Джордж Дигби (1612–1677) — 2-й граф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Бристоль, политик, поэт, драматург.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Уильям Рассел (1616–1700) — будущий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1-й герцог Бедфорд.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Элегантная непринуждённость поз —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типичный «friendship portrait», жанр,</a:t>
            </a:r>
          </a:p>
          <a:p>
            <a:pPr>
              <a:spcBef>
                <a:spcPts val="1000"/>
              </a:spcBef>
              <a:defRPr sz="1200">
                <a:solidFill>
                  <a:srgbClr val="E8E0D0"/>
                </a:solidFill>
                <a:latin typeface="Calibri"/>
              </a:defRPr>
            </a:pPr>
            <a:r>
              <a:t>в котором Ван Дейк непревзойдён.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8A7A6A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80512"/>
            </a:gs>
            <a:gs pos="100000">
              <a:srgbClr val="22153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0" y="3840480"/>
            <a:ext cx="3474720" cy="3474720"/>
          </a:xfrm>
          <a:prstGeom prst="ellipse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1828800" cy="1828800"/>
          </a:xfrm>
          <a:prstGeom prst="ellipse">
            <a:avLst/>
          </a:prstGeom>
          <a:solidFill>
            <a:srgbClr val="E8C5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mily_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504411" cy="1828800"/>
          </a:xfrm>
          <a:prstGeom prst="rect">
            <a:avLst/>
          </a:prstGeom>
        </p:spPr>
      </p:pic>
      <p:pic>
        <p:nvPicPr>
          <p:cNvPr id="5" name="Picture 4" descr="st_mart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4572000"/>
            <a:ext cx="1452149" cy="1828800"/>
          </a:xfrm>
          <a:prstGeom prst="rect">
            <a:avLst/>
          </a:prstGeom>
        </p:spPr>
      </p:pic>
      <p:pic>
        <p:nvPicPr>
          <p:cNvPr id="6" name="Picture 5" descr="bentivogli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4572000"/>
            <a:ext cx="1654711" cy="1828800"/>
          </a:xfrm>
          <a:prstGeom prst="rect">
            <a:avLst/>
          </a:prstGeom>
        </p:spPr>
      </p:pic>
      <p:pic>
        <p:nvPicPr>
          <p:cNvPr id="7" name="Picture 6" descr="charles_hun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59" y="4572000"/>
            <a:ext cx="1425039" cy="1828800"/>
          </a:xfrm>
          <a:prstGeom prst="rect">
            <a:avLst/>
          </a:prstGeom>
        </p:spPr>
      </p:pic>
      <p:pic>
        <p:nvPicPr>
          <p:cNvPr id="8" name="Picture 7" descr="maria_de_tassi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4572000"/>
            <a:ext cx="130048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Georgia"/>
              </a:defRPr>
            </a:pPr>
            <a:r>
              <a:t>СПАСИБО ЗА ВНИМАНИЕ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2286000" cy="38100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C56D"/>
                </a:solidFill>
                <a:latin typeface="Calibri"/>
              </a:defRPr>
            </a:pPr>
            <a:r>
              <a:t>Готов ответить на вопросы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A7A6A"/>
                </a:solidFill>
                <a:latin typeface="Calibri"/>
              </a:defRPr>
            </a:pPr>
            <a:r>
              <a:t>Тверской филиал РГУ им. А.Н. Косыгина  •  История искусств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