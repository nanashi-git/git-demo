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071A"/>
            </a:gs>
            <a:gs pos="100000">
              <a:srgbClr val="2D1B4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371600"/>
            <a:ext cx="3657600" cy="3657600"/>
          </a:xfrm>
          <a:prstGeom prst="ellipse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2286000" cy="2286000"/>
          </a:xfrm>
          <a:prstGeom prst="ellipse">
            <a:avLst/>
          </a:prstGeom>
          <a:solidFill>
            <a:srgbClr val="E8C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2194560"/>
            <a:ext cx="2743200" cy="508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9A8A7A"/>
                </a:solidFill>
                <a:latin typeface="Palatino Linotype"/>
              </a:defRPr>
            </a:pPr>
            <a:r>
              <a:t>Тверской филиал РГУ им. А.Н. Косыгина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E8C56D"/>
                </a:solidFill>
                <a:latin typeface="Palatino Linotype"/>
              </a:defRPr>
            </a:pPr>
            <a:r>
              <a:t>История искусств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FFFFF"/>
                </a:solidFill>
                <a:latin typeface="Georgia"/>
              </a:defRPr>
            </a:pPr>
            <a:r>
              <a:t>АНТОНИС ВАН ДЕЙК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0D0"/>
                </a:solidFill>
                <a:latin typeface="Palatino Linotype"/>
              </a:defRPr>
            </a:pPr>
            <a:r>
              <a:t>Избранные произведения великого фламандского портретиста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A8A7A"/>
                </a:solidFill>
                <a:latin typeface="Palatino Linotype"/>
              </a:defRPr>
            </a:pPr>
            <a:r>
              <a:t>Студент 1 курса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Georgia"/>
              </a:defRPr>
            </a:pPr>
            <a:r>
              <a:t>Антонис Ван Дейк (1599–1641)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Фламандский живописец эпохи барокко, ученик Питера Пауля Рубенса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Родился 22 марта 1599 г. в Антверпене, умер 9 декабря 1641 г. в Лондоне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Придворный художник английского короля Карла I с 1632 года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Крупнейший мастер парадного аристократического портрета XVII века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Работал в Антверпене, Генуе, Риме, Палермо и Лондоне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Оказал огромное влияние на английскую портретную живопись на 150 лет вперёд</a:t>
            </a:r>
          </a:p>
          <a:p>
            <a:pPr>
              <a:spcBef>
                <a:spcPts val="1400"/>
              </a:spcBef>
              <a:defRPr sz="1500">
                <a:solidFill>
                  <a:srgbClr val="E8E0D0"/>
                </a:solidFill>
                <a:latin typeface="Palatino Linotype"/>
              </a:defRPr>
            </a:pPr>
            <a:r>
              <a:t>• Создал более 900 картин за свою короткую жизнь (42 года)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Семейный портрет (ок. 1620–1621)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Холст, масло. 113,5 × 93,5 см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Хранится в Государственном Эрмитаже, Санкт-Петербург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Изображена супружеская пара с дочерью на коленях у матери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Компактная композиция создаёт атмосферу доверительной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близости и согласия между членами семьи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Написана в ранний период творчества — Ван Дейку было ~21 год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Демонстрирует влияние Рубенса в колористике и свободе мазка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Одна из самых проникновенных работ молодого мастера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Святой Мартин и нищий (ок. 1618)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Дерево, масло. 172 × 158 см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Алтарный образ церкви Св. Мартина в Завентеме (Бельгия)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Сюжет: римский воин Мартин Турский разрезает свой плащ,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чтобы поделиться с замерзающим нищим холодным зимним утром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Работа написана, когда Ван Дейку было всего ~19 лет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Заказ изначально предназначался для Рубенса, но был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передан его талантливому ученику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Драматичная барочная композиция с сильной диагональю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Свидетельство раннего мастерства в монументальной живописи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Портрет кардинала Гвидо Бентивольо (ок. 1623)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Холст, масло. Галерея Палатина, Палаццо Питти, Флоренция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Написан во время пребывания Ван Дейка в Италии (1621–1627)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Кардинал Бентивольо имел связи с родной Фландрией художника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«Весь Рим устремился смотреть это чудо искусства, и каждый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хотел быть написанным рукой нашего художника» (XVIII в.)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Работа вдохновлена итальянскими мастерами, особенно Тицианом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Утвердила Ван Дейка как ведущего портретиста своего времени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Передаёт жизнь, ум и чувственность натуры кардинала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Автопортрет (ок. 1620–1621)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Холст, масло. 119,7 × 87,9 см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Хранится в Метрополитен-музее, Нью-Йорк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Написан предположительно зимой 1620–1621 гг. в Лондоне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Ван Дейк изобразил себя как светского джентльмена в изысканной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одежде, без палитры и кистей — атрибутов ремесла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Небрежная поза руки у подбородка подчёркивает аристократизм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Отец художника был богатым торговцем тканями — отсюда роскошь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костюма и самоуверенность 21-летнего мастера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Виртуозная кисть передаёт блеск ткани и сияние молодой кожи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Портрет Марии Луизы де Тассис (ок. 1629–1630)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Холст, масло. Коллекция князей Лихтенштейн, Вадуц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Мария Луиза (1611–1638) — дочь Антонио де Тассис из Антверпена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Семья де Тассис из Бергамо создала первую почтовую систему Европы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в конце XV века (ныне известна как Thurn und Taxis)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Изображена в возрасте около 19 лет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Изысканный барочный женский портрет: богатое платье, кружева,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жемчуг и утончённые черты молодой аристократки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Яркий пример мастерства Ван Дейка в передаче тканей и украшений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Портрет сэра Томаса Чалонера (конец 1630-х)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Холст, масло. Государственный Эрмитаж, Санкт-Петербург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Одна из последних работ Ван Дейка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Сэр Томас Чалонер — английский придворный при Карле I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Художник с мастерством передаёт стареющее лицо с дряблой кожей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и румянцем на щеках — честная, без лести, характеристика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Считается одним из лучших полотен позднего периода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Глубокий психологизм: зритель ощущает характер и жизненный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  опыт изображённого человека</a:t>
            </a:r>
          </a:p>
          <a:p>
            <a:pPr>
              <a:spcBef>
                <a:spcPts val="1200"/>
              </a:spcBef>
              <a:defRPr sz="1400">
                <a:solidFill>
                  <a:srgbClr val="E8E0D0"/>
                </a:solidFill>
                <a:latin typeface="Palatino Linotype"/>
              </a:defRPr>
            </a:pPr>
            <a:r>
              <a:t>• Свободная, уверенная манера письма зрелого мастера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Georgia"/>
              </a:defRPr>
            </a:pPr>
            <a:r>
              <a:t>Портрет Карла I на охоте (ок. 1635)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Холст, масло. 266 × 207 см. Музей Лувр, Париж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Шедевр Ван Дейка и жемчужина коллекции Лувра с 1793 года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Карл I изображён в гражданской одежде, стоящим у лошади,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как будто отдыхающим на охоте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«Тонкий компромисс между джентльменской небрежностью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и королевской уверенностью» (описание Лувра)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Король невысокого роста (163 см), но Ван Дейк с помощью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композиции создаёт впечатление величественной фигуры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Лошадь словно кланяется, подчёркивая статус монарха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Прекрасный пейзажный фон объединяет природу и власть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Georgia"/>
              </a:defRPr>
            </a:pPr>
            <a:r>
              <a:t>Портрет Джорджа Дигби и Уильяма Рассела (ок. 1637)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Холст, масло. Коллекция Спенсеров, Олторп, Англия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Двойной парадный портрет двух молодых английских аристократов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Джордж Дигби (1612–1677) — 2-й граф Бристоль, политик-роялист,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государственный секретарь Карла I, поэт и драматург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Уильям Рассел (1616–1700) — впоследствии 1-й герцог Бедфорд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Оба — молодые придворные, им около 21–25 лет на портрете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Элегантная непринуждённость поз передаёт светскость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и уверенность представителей высшей аристократии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• Типичный пример «friendship portrait» — жанра, в котором</a:t>
            </a:r>
          </a:p>
          <a:p>
            <a:pPr>
              <a:spcBef>
                <a:spcPts val="1000"/>
              </a:spcBef>
              <a:defRPr sz="1300">
                <a:solidFill>
                  <a:srgbClr val="E8E0D0"/>
                </a:solidFill>
                <a:latin typeface="Palatino Linotype"/>
              </a:defRPr>
            </a:pPr>
            <a:r>
              <a:t>  Ван Дейк был непревзойдённым мастером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8A7A"/>
                </a:solidFill>
                <a:latin typeface="Palatino Linotyp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071A"/>
            </a:gs>
            <a:gs pos="100000">
              <a:srgbClr val="2D1B4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3657600"/>
            <a:ext cx="3657600" cy="3657600"/>
          </a:xfrm>
          <a:prstGeom prst="ellipse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1828800" cy="1828800"/>
          </a:xfrm>
          <a:prstGeom prst="ellipse">
            <a:avLst/>
          </a:prstGeom>
          <a:solidFill>
            <a:srgbClr val="E8C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Georgia"/>
              </a:defRPr>
            </a:pPr>
            <a: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C56D"/>
                </a:solidFill>
                <a:latin typeface="Palatino Linotype"/>
              </a:defRPr>
            </a:pPr>
            <a:r>
              <a:t>Готов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9A8A7A"/>
                </a:solidFill>
                <a:latin typeface="Palatino Linotype"/>
              </a:defRPr>
            </a:pPr>
            <a:r>
              <a:t>Тверской филиал РГУ им. А.Н. Косыгина  •  История искусств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